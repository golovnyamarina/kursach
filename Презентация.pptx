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A6310-D69C-4E66-7275-3DD1BF635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AC71F2-7867-4AB5-D7F2-C603C5B56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911747-C52F-A416-CF8C-97936547D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C6D469-2D63-E6B7-A549-05F256A9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47F59B-E2ED-5680-1880-7A666B41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3570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61FD5-FA81-D028-345F-3179CC1D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E49D52-ABC9-7436-F148-2E4EBE424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CAA85E-888A-F1E7-4256-F199235C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4C2ABE-4317-05E2-5AC0-987E77ADE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E90062-96F2-5B20-4964-4A85B0B9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64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4CA74-BDF7-448A-7DE9-BC6C86E85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F37E6B-C27F-A4E5-3D42-DFA28A2BB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E2B13-8BD7-3F55-E7B1-0C62F029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CEAD27-FB8D-2C15-E3E6-0F6EBD749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388090-E21D-D1D3-8FE6-E0C2A75A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19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8357F-0B94-34DE-F633-682B631F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2412E6-AE18-C773-438F-BD49472A1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8463DD-AA5F-B9DC-C95F-9A5329D89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ED1198-6BC8-D4BB-0F65-020325D07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D452BD-9759-20F6-C646-0F23576AF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455022-B1F6-3D74-D2DD-196AB872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797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2B772-0583-C13D-4DD6-52ED4311B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87468D-391C-7CE3-0902-107635E8B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866FCA4-4845-8578-06F8-DD4F8698B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6D8860F-B8F3-8192-ECFB-16B3969AD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23008CB-4156-AF7C-A181-7EC59F6F9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98E06B-9634-4C92-467B-C6F987D87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B10020-D405-198B-32B2-AB289FE5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D11654-2EE3-6FF8-1A28-D7C08C54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529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E516F7-F1E5-F168-3988-B3D98DC8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458EDA2-2890-40A0-99E5-F36DBD5C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6E241C-8D2E-12E0-8486-D9A8AC51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EBE319-8196-B5B6-C742-6FFF9DB0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01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3B37857-7CCE-6090-67FE-51EB461A6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EB95272-10A8-9206-1ED3-77848E535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5F37B4-D3EA-7910-EBEB-FD694AF5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38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A1FBB5-192F-2EF5-975B-EBCD10CF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597642-5AB9-F8AE-D717-B63CC0903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806606-032B-1455-AE4E-29731CCCF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6FB7B7-C63B-BF71-1A9E-5DF5E4CB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D04A0E-49DF-C30F-0180-DE983EE26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99BC9F-7E40-4AA8-6B9D-D5CF7AB3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35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D1147-C3A3-9507-3F08-558A1D877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6ADDC66-4529-ACAD-3AFF-B27933245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74FEAC-2E71-8684-86DC-BA04F688D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B06492-FFE8-2DD1-CBA7-DCC9A250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563D40-E927-8E0A-3FD6-398AEFF42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13ADA7-DA34-7DBC-848B-A614AA4B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95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13DFDF-ED15-BE52-87C5-9F84C4BC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4062C7-0F5C-0331-2CC9-378656270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8B6102-6B62-BF1E-1FA1-E0B59519D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D16096-63A5-608C-BB5C-3F422A7B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97B474-CFF7-248D-17C5-8690EA16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67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EF468E3-53EC-3C1D-39AF-13E3C44FE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A5E6CE-46DC-AEFD-C2CE-B12EDD8DD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60D104-81CD-7DCB-2509-419D8290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3288A7-CC77-A54B-B983-20A52DE5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A09149-28C3-1B24-F5C5-9A8A265E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244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0EEB1-B94D-F63F-BEE4-AD656C39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C06930-44D1-1CEA-7753-49FAFBFDD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DE5AF3-21C7-DC90-CEAF-E5FD3A6BC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62525-E1A8-4E7D-B727-E12ADB586F8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0158BD-AC52-86C7-F830-982AC8374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C89F46-4FE0-D193-32B2-1949F24EE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D265AA-2ABC-4CD7-835C-15D00EC856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86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64867C20-436F-F461-1BC2-515B718802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3876179-DAC2-4B2E-F3F4-1242885A24C8}"/>
              </a:ext>
            </a:extLst>
          </p:cNvPr>
          <p:cNvSpPr txBox="1"/>
          <p:nvPr/>
        </p:nvSpPr>
        <p:spPr>
          <a:xfrm>
            <a:off x="1511251" y="209689"/>
            <a:ext cx="91694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latin typeface="Aptos Display" panose="020B0004020202020204" pitchFamily="34" charset="0"/>
                <a:cs typeface="Times New Roman" panose="02020603050405020304" pitchFamily="18" charset="0"/>
              </a:rPr>
              <a:t>Министерство образования Московской области</a:t>
            </a:r>
          </a:p>
          <a:p>
            <a:pPr algn="ctr"/>
            <a:r>
              <a:rPr lang="ru-RU" dirty="0">
                <a:latin typeface="Aptos Display" panose="020B0004020202020204" pitchFamily="34" charset="0"/>
                <a:cs typeface="Times New Roman" panose="02020603050405020304" pitchFamily="18" charset="0"/>
              </a:rPr>
              <a:t>Государственное образовательное учреждение высшего образования Московской области</a:t>
            </a:r>
          </a:p>
          <a:p>
            <a:pPr algn="ctr"/>
            <a:r>
              <a:rPr lang="ru-RU" dirty="0">
                <a:latin typeface="Aptos Display" panose="020B0004020202020204" pitchFamily="34" charset="0"/>
                <a:cs typeface="Times New Roman" panose="02020603050405020304" pitchFamily="18" charset="0"/>
              </a:rPr>
              <a:t>«Государственный гуманитарно-технологический университет»</a:t>
            </a:r>
          </a:p>
          <a:p>
            <a:pPr algn="ctr"/>
            <a:r>
              <a:rPr lang="ru-RU" dirty="0">
                <a:latin typeface="Aptos Display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algn="ctr"/>
            <a:r>
              <a:rPr lang="ru-RU" b="1" u="sng" dirty="0">
                <a:latin typeface="Aptos Display" panose="020B0004020202020204" pitchFamily="34" charset="0"/>
                <a:cs typeface="Times New Roman" panose="02020603050405020304" pitchFamily="18" charset="0"/>
              </a:rPr>
              <a:t>Ликино-</a:t>
            </a:r>
            <a:r>
              <a:rPr lang="ru-RU" b="1" u="sng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Дулевский</a:t>
            </a:r>
            <a:r>
              <a:rPr lang="ru-RU" b="1" u="sng" dirty="0">
                <a:latin typeface="Aptos Display" panose="020B0004020202020204" pitchFamily="34" charset="0"/>
                <a:cs typeface="Times New Roman" panose="02020603050405020304" pitchFamily="18" charset="0"/>
              </a:rPr>
              <a:t> политехнический колледж – филиал ГГТУ</a:t>
            </a:r>
            <a:endParaRPr lang="ru-RU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Aptos Display" panose="020B000402020202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39F9A16-96E0-313F-0027-8F4F52FDF399}"/>
              </a:ext>
            </a:extLst>
          </p:cNvPr>
          <p:cNvSpPr>
            <a:spLocks noGrp="1"/>
          </p:cNvSpPr>
          <p:nvPr/>
        </p:nvSpPr>
        <p:spPr>
          <a:xfrm>
            <a:off x="2313304" y="2605849"/>
            <a:ext cx="7905806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000" b="1" dirty="0">
                <a:solidFill>
                  <a:schemeClr val="tx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2000" dirty="0">
                <a:solidFill>
                  <a:schemeClr val="tx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ru-RU" sz="2000" b="1" dirty="0">
                <a:solidFill>
                  <a:schemeClr val="tx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 </a:t>
            </a:r>
            <a:br>
              <a:rPr lang="ru-RU" sz="2000" dirty="0">
                <a:solidFill>
                  <a:schemeClr val="tx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«Создание сайта образовательной организации, соответствующего утверждённым стандартам размещения информации в сети Интернет»</a:t>
            </a:r>
            <a:br>
              <a:rPr lang="ru-RU" sz="2000" dirty="0">
                <a:solidFill>
                  <a:schemeClr val="tx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br>
              <a:rPr lang="ru-RU" sz="2000" u="sng" dirty="0">
                <a:solidFill>
                  <a:schemeClr val="tx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</a:br>
            <a:r>
              <a:rPr lang="ru-RU" sz="2000" u="sng" dirty="0">
                <a:solidFill>
                  <a:schemeClr val="tx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МДК.08.01 «Проектирование и разработка интерфейсов пользователя»</a:t>
            </a:r>
            <a:br>
              <a:rPr lang="ru-RU" sz="2000" u="sng" dirty="0">
                <a:latin typeface="Aptos Display" panose="020B0004020202020204" pitchFamily="34" charset="0"/>
              </a:rPr>
            </a:br>
            <a:endParaRPr lang="ru-RU" sz="2000" dirty="0">
              <a:latin typeface="Aptos Display" panose="020B00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6A31B834-34A9-BD0B-05CC-0D8BC2684FE4}"/>
              </a:ext>
            </a:extLst>
          </p:cNvPr>
          <p:cNvSpPr txBox="1"/>
          <p:nvPr/>
        </p:nvSpPr>
        <p:spPr>
          <a:xfrm>
            <a:off x="6569914" y="4125119"/>
            <a:ext cx="531837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600" dirty="0">
                <a:latin typeface="Aptos Display" panose="020B0004020202020204" pitchFamily="34" charset="0"/>
              </a:rPr>
              <a:t> </a:t>
            </a:r>
          </a:p>
          <a:p>
            <a:pPr algn="r"/>
            <a:r>
              <a:rPr lang="ru-RU" sz="16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Выполнила:</a:t>
            </a:r>
            <a:endParaRPr lang="ru-RU" sz="16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ru-RU" sz="1600" u="sng" dirty="0">
                <a:latin typeface="Aptos Display" panose="020B0004020202020204" pitchFamily="34" charset="0"/>
                <a:cs typeface="Times New Roman" panose="02020603050405020304" pitchFamily="18" charset="0"/>
              </a:rPr>
              <a:t>Головня Марина Антоновна</a:t>
            </a:r>
            <a:endParaRPr lang="ru-RU" sz="16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algn="r"/>
            <a:r>
              <a:rPr lang="ru-RU" sz="1600" u="sng" dirty="0">
                <a:latin typeface="Aptos Display" panose="020B0004020202020204" pitchFamily="34" charset="0"/>
                <a:cs typeface="Times New Roman" panose="02020603050405020304" pitchFamily="18" charset="0"/>
              </a:rPr>
              <a:t>Студентка 3 курса группы ИСП.23.2А</a:t>
            </a:r>
            <a:endParaRPr lang="ru-RU" sz="16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algn="r"/>
            <a:r>
              <a:rPr lang="ru-RU" sz="1600" u="sng" dirty="0">
                <a:latin typeface="Aptos Display" panose="020B0004020202020204" pitchFamily="34" charset="0"/>
                <a:cs typeface="Times New Roman" panose="02020603050405020304" pitchFamily="18" charset="0"/>
              </a:rPr>
              <a:t>09.02.07 Информационные системы и программирование  </a:t>
            </a:r>
            <a:endParaRPr lang="ru-RU" sz="16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Aptos Display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algn="r"/>
            <a:r>
              <a:rPr lang="ru-RU" sz="1600" u="sng" dirty="0">
                <a:latin typeface="Aptos Display" panose="020B0004020202020204" pitchFamily="34" charset="0"/>
                <a:cs typeface="Times New Roman" panose="02020603050405020304" pitchFamily="18" charset="0"/>
              </a:rPr>
              <a:t>очной формы обучения</a:t>
            </a:r>
            <a:endParaRPr lang="ru-RU" sz="16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r"/>
            <a:endParaRPr lang="ru-RU" sz="1600" dirty="0"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861801-665C-3B64-5F01-22E9140CA9BF}"/>
              </a:ext>
            </a:extLst>
          </p:cNvPr>
          <p:cNvSpPr txBox="1"/>
          <p:nvPr/>
        </p:nvSpPr>
        <p:spPr>
          <a:xfrm>
            <a:off x="5809007" y="641325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Display" panose="020B0004020202020204" pitchFamily="34" charset="0"/>
                <a:cs typeface="Times New Roman" panose="02020603050405020304" pitchFamily="18" charset="0"/>
              </a:rPr>
              <a:t>2026 г.</a:t>
            </a:r>
          </a:p>
        </p:txBody>
      </p:sp>
    </p:spTree>
    <p:extLst>
      <p:ext uri="{BB962C8B-B14F-4D97-AF65-F5344CB8AC3E}">
        <p14:creationId xmlns:p14="http://schemas.microsoft.com/office/powerpoint/2010/main" val="290579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FC130B1C-8D26-CC79-F3D8-747DEC9A65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3E895-E142-D668-C293-92BFAEBFCC78}"/>
              </a:ext>
            </a:extLst>
          </p:cNvPr>
          <p:cNvSpPr txBox="1"/>
          <p:nvPr/>
        </p:nvSpPr>
        <p:spPr>
          <a:xfrm>
            <a:off x="4988255" y="160431"/>
            <a:ext cx="2215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6C5BB-3CD4-04A2-A931-7D3BAA3AAD6A}"/>
              </a:ext>
            </a:extLst>
          </p:cNvPr>
          <p:cNvSpPr txBox="1"/>
          <p:nvPr/>
        </p:nvSpPr>
        <p:spPr>
          <a:xfrm>
            <a:off x="616423" y="967193"/>
            <a:ext cx="10959152" cy="5168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buNone/>
            </a:pPr>
            <a:r>
              <a:rPr lang="ru-RU" sz="2400" b="1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Объект</a:t>
            </a:r>
            <a:r>
              <a:rPr lang="en-US" sz="2400" b="1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исследования</a:t>
            </a:r>
            <a:r>
              <a:rPr lang="ru-RU" sz="2400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2400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процесс оказания образовательных услуг и информационного взаимодействия с клиентами в образовательном учреждение «Просветление».</a:t>
            </a:r>
            <a:endParaRPr lang="en-US" sz="2400" dirty="0">
              <a:solidFill>
                <a:srgbClr val="0B2033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  <a:buNone/>
            </a:pPr>
            <a:endParaRPr lang="ru-RU" sz="2400" dirty="0">
              <a:solidFill>
                <a:srgbClr val="0B2033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  <a:buNone/>
            </a:pPr>
            <a:r>
              <a:rPr lang="ru-RU" sz="2400" b="1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Предмет исследования</a:t>
            </a:r>
            <a:r>
              <a:rPr lang="ru-RU" sz="2400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– веб-сайт образовательного учреждения как инструмент автоматизации записи на курсы, представления учебных программ и формирования имиджа организации в сети Интернет.</a:t>
            </a:r>
            <a:endParaRPr lang="en-US" sz="2400" dirty="0">
              <a:solidFill>
                <a:srgbClr val="0B2033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  <a:buNone/>
            </a:pPr>
            <a:endParaRPr lang="ru-RU" sz="2400" dirty="0">
              <a:solidFill>
                <a:srgbClr val="0B2033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  <a:buNone/>
            </a:pPr>
            <a:r>
              <a:rPr lang="ru-RU" sz="2400" b="1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Цель курсового проекта</a:t>
            </a:r>
            <a:r>
              <a:rPr lang="ru-RU" sz="2400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2400" dirty="0">
                <a:solidFill>
                  <a:srgbClr val="0B203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проектирование и разработка официального веб-сайта для ОУ «Просветление», который обеспечит потенциальных клиентов актуальной информацией о курсах и ценах, а также предоставит функционал для онлайн-записи на обучение.</a:t>
            </a:r>
          </a:p>
        </p:txBody>
      </p:sp>
    </p:spTree>
    <p:extLst>
      <p:ext uri="{BB962C8B-B14F-4D97-AF65-F5344CB8AC3E}">
        <p14:creationId xmlns:p14="http://schemas.microsoft.com/office/powerpoint/2010/main" val="7395304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E9A5E-800B-9D98-5C51-5A4B67358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DBFA25ED-0A4F-1D43-38CB-F36F0F0A0E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EF9D2-E6B6-36E2-A4B1-2252EB470F84}"/>
              </a:ext>
            </a:extLst>
          </p:cNvPr>
          <p:cNvSpPr txBox="1"/>
          <p:nvPr/>
        </p:nvSpPr>
        <p:spPr>
          <a:xfrm>
            <a:off x="2873280" y="150125"/>
            <a:ext cx="644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Выбор </a:t>
            </a:r>
            <a:r>
              <a:rPr lang="en-US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CASE-</a:t>
            </a:r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средства: </a:t>
            </a:r>
            <a:r>
              <a:rPr lang="en-US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Draw.io</a:t>
            </a:r>
            <a:endParaRPr lang="ru-RU" sz="3600" b="1" dirty="0">
              <a:solidFill>
                <a:srgbClr val="0B2033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25715D-95CE-86E7-2060-4ECD6B0D8D86}"/>
              </a:ext>
            </a:extLst>
          </p:cNvPr>
          <p:cNvSpPr txBox="1"/>
          <p:nvPr/>
        </p:nvSpPr>
        <p:spPr>
          <a:xfrm>
            <a:off x="6096000" y="3429000"/>
            <a:ext cx="53499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B2033"/>
                </a:solidFill>
              </a:rPr>
              <a:t>Работа с UML-диаграммами</a:t>
            </a:r>
            <a:endParaRPr lang="ru-RU" sz="2400" dirty="0">
              <a:solidFill>
                <a:srgbClr val="0B2033"/>
              </a:solidFill>
            </a:endParaRP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B2033"/>
                </a:solidFill>
              </a:rPr>
              <a:t>Использование библиотек </a:t>
            </a:r>
            <a:r>
              <a:rPr lang="ru-RU" sz="2400" b="1" dirty="0" err="1">
                <a:solidFill>
                  <a:srgbClr val="0B2033"/>
                </a:solidFill>
              </a:rPr>
              <a:t>Use</a:t>
            </a:r>
            <a:r>
              <a:rPr lang="ru-RU" sz="2400" b="1" dirty="0">
                <a:solidFill>
                  <a:srgbClr val="0B2033"/>
                </a:solidFill>
              </a:rPr>
              <a:t> Case</a:t>
            </a:r>
            <a:r>
              <a:rPr lang="ru-RU" sz="2400" dirty="0">
                <a:solidFill>
                  <a:srgbClr val="0B2033"/>
                </a:solidFill>
              </a:rPr>
              <a:t> для визуализации ролей (Гость, Ученик, Админ).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B2033"/>
                </a:solidFill>
              </a:rPr>
              <a:t>Построение </a:t>
            </a:r>
            <a:r>
              <a:rPr lang="ru-RU" sz="2400" b="1" dirty="0" err="1">
                <a:solidFill>
                  <a:srgbClr val="0B2033"/>
                </a:solidFill>
              </a:rPr>
              <a:t>Activity</a:t>
            </a:r>
            <a:r>
              <a:rPr lang="ru-RU" sz="2400" b="1" dirty="0">
                <a:solidFill>
                  <a:srgbClr val="0B2033"/>
                </a:solidFill>
              </a:rPr>
              <a:t>-диаграмм</a:t>
            </a:r>
            <a:r>
              <a:rPr lang="ru-RU" sz="2400" dirty="0">
                <a:solidFill>
                  <a:srgbClr val="0B2033"/>
                </a:solidFill>
              </a:rPr>
              <a:t> для описания алгоритмов регистрации и записи через «</a:t>
            </a:r>
            <a:r>
              <a:rPr lang="ru-RU" sz="2400" dirty="0" err="1">
                <a:solidFill>
                  <a:srgbClr val="0B2033"/>
                </a:solidFill>
              </a:rPr>
              <a:t>drag-and-drop</a:t>
            </a:r>
            <a:r>
              <a:rPr lang="ru-RU" sz="2400" dirty="0">
                <a:solidFill>
                  <a:srgbClr val="0B2033"/>
                </a:solidFill>
              </a:rPr>
              <a:t>».</a:t>
            </a:r>
          </a:p>
          <a:p>
            <a:endParaRPr lang="ru-RU" dirty="0">
              <a:solidFill>
                <a:srgbClr val="0B203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EF555F-B209-ED62-2D92-DDD913AA8977}"/>
              </a:ext>
            </a:extLst>
          </p:cNvPr>
          <p:cNvSpPr txBox="1"/>
          <p:nvPr/>
        </p:nvSpPr>
        <p:spPr>
          <a:xfrm>
            <a:off x="914400" y="946581"/>
            <a:ext cx="58184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B2033"/>
                </a:solidFill>
              </a:rPr>
              <a:t>Ключевые преимущества	</a:t>
            </a:r>
            <a:endParaRPr lang="ru-RU" sz="2400" dirty="0">
              <a:solidFill>
                <a:srgbClr val="0B2033"/>
              </a:solidFill>
            </a:endParaRP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B2033"/>
                </a:solidFill>
              </a:rPr>
              <a:t>Нулевые затраты на лицензирование.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B2033"/>
                </a:solidFill>
              </a:rPr>
              <a:t>Работа</a:t>
            </a:r>
            <a:r>
              <a:rPr lang="ru-RU" sz="2400" b="1" dirty="0">
                <a:solidFill>
                  <a:srgbClr val="0B2033"/>
                </a:solidFill>
              </a:rPr>
              <a:t> </a:t>
            </a:r>
            <a:r>
              <a:rPr lang="ru-RU" sz="2400" dirty="0">
                <a:solidFill>
                  <a:srgbClr val="0B2033"/>
                </a:solidFill>
              </a:rPr>
              <a:t>в браузере на Windows без </a:t>
            </a:r>
          </a:p>
          <a:p>
            <a:pPr marL="0" lvl="1"/>
            <a:r>
              <a:rPr lang="ru-RU" sz="2400" dirty="0">
                <a:solidFill>
                  <a:srgbClr val="0B2033"/>
                </a:solidFill>
              </a:rPr>
              <a:t>      установки ПО.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B2033"/>
                </a:solidFill>
              </a:rPr>
              <a:t>Экспорт схем в высоком разрешении для проектной документации.</a:t>
            </a:r>
          </a:p>
        </p:txBody>
      </p:sp>
      <p:pic>
        <p:nvPicPr>
          <p:cNvPr id="1026" name="Picture 2" descr="Полезные возможности сервиса Draw.io для IT-специалистов - Айтилогия">
            <a:extLst>
              <a:ext uri="{FF2B5EF4-FFF2-40B4-BE49-F238E27FC236}">
                <a16:creationId xmlns:a16="http://schemas.microsoft.com/office/drawing/2014/main" id="{49934496-D0B2-994C-FDAF-F9BA9ABE7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414" y="4029333"/>
            <a:ext cx="4203508" cy="106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079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B3B64-C378-7D0E-09F9-9925B2BB0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A9053E07-61E0-F98A-6EF2-99D9522904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44EA07-46DA-B588-25C9-CB15F0FD4E51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Проектирование диаграммы прецедентов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478E6D-4FF8-6BC4-9CCC-BC2CA20C0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305" y="946581"/>
            <a:ext cx="7469389" cy="517265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77460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4B36-125D-58C4-1E30-7BA8A26BE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A58095FD-3BFE-1A28-EC8D-94C5FE02BC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DD307C-CDDB-EF3D-C311-895F0D159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087" y="906243"/>
            <a:ext cx="5133890" cy="52348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3F3CC2-813B-F590-CA38-F0FA1D78B1BB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Проектирование диаграммы действий</a:t>
            </a:r>
          </a:p>
        </p:txBody>
      </p:sp>
    </p:spTree>
    <p:extLst>
      <p:ext uri="{BB962C8B-B14F-4D97-AF65-F5344CB8AC3E}">
        <p14:creationId xmlns:p14="http://schemas.microsoft.com/office/powerpoint/2010/main" val="1976330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76917-CC30-8ED3-5ED0-666EF4E28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41C6C332-D509-FAD2-6B9D-FFA14B37A3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C3ACE-7F67-8EAC-E780-5A29424B195A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Обоснование выбора средств разработки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993A64-6289-7AE2-702C-B79AA8C33534}"/>
              </a:ext>
            </a:extLst>
          </p:cNvPr>
          <p:cNvSpPr txBox="1"/>
          <p:nvPr/>
        </p:nvSpPr>
        <p:spPr>
          <a:xfrm>
            <a:off x="696035" y="831205"/>
            <a:ext cx="57320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>
                <a:solidFill>
                  <a:srgbClr val="0B2033"/>
                </a:solidFill>
              </a:rPr>
              <a:t>Backend</a:t>
            </a:r>
            <a:r>
              <a:rPr lang="ru-RU" sz="2400" b="1" dirty="0">
                <a:solidFill>
                  <a:srgbClr val="0B2033"/>
                </a:solidFill>
              </a:rPr>
              <a:t>: Python &amp; </a:t>
            </a:r>
            <a:r>
              <a:rPr lang="ru-RU" sz="2400" b="1" dirty="0" err="1">
                <a:solidFill>
                  <a:srgbClr val="0B2033"/>
                </a:solidFill>
              </a:rPr>
              <a:t>Django</a:t>
            </a:r>
            <a:endParaRPr lang="ru-RU" sz="2400" dirty="0">
              <a:solidFill>
                <a:srgbClr val="0B2033"/>
              </a:solidFill>
            </a:endParaRP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B2033"/>
                </a:solidFill>
              </a:rPr>
              <a:t>Архитектура MVT:</a:t>
            </a:r>
            <a:r>
              <a:rPr lang="ru-RU" sz="2400" dirty="0">
                <a:solidFill>
                  <a:srgbClr val="0B2033"/>
                </a:solidFill>
              </a:rPr>
              <a:t> четкое разделение данных, логики и интерфейса.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B2033"/>
                </a:solidFill>
              </a:rPr>
              <a:t>Безопасность:</a:t>
            </a:r>
            <a:r>
              <a:rPr lang="ru-RU" sz="2400" dirty="0">
                <a:solidFill>
                  <a:srgbClr val="0B2033"/>
                </a:solidFill>
              </a:rPr>
              <a:t> встроенная защита от SQL-инъекций, XSS и CSRF.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B2033"/>
                </a:solidFill>
              </a:rPr>
              <a:t>Админ-панель:</a:t>
            </a:r>
            <a:r>
              <a:rPr lang="ru-RU" sz="2400" dirty="0">
                <a:solidFill>
                  <a:srgbClr val="0B2033"/>
                </a:solidFill>
              </a:rPr>
              <a:t> готовый интерфейс управления контентом «из коробки».</a:t>
            </a:r>
          </a:p>
          <a:p>
            <a:endParaRPr lang="ru-RU" sz="2400" dirty="0">
              <a:solidFill>
                <a:srgbClr val="0B2033"/>
              </a:solidFill>
            </a:endParaRPr>
          </a:p>
        </p:txBody>
      </p:sp>
      <p:pic>
        <p:nvPicPr>
          <p:cNvPr id="2050" name="Picture 2" descr="Python – Бесплатные иконки: логотип">
            <a:extLst>
              <a:ext uri="{FF2B5EF4-FFF2-40B4-BE49-F238E27FC236}">
                <a16:creationId xmlns:a16="http://schemas.microsoft.com/office/drawing/2014/main" id="{EEFBD64A-FBB4-FC75-5B6E-91C5FF73F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701" y="1118630"/>
            <a:ext cx="1501740" cy="150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бренд Джанго значок">
            <a:extLst>
              <a:ext uri="{FF2B5EF4-FFF2-40B4-BE49-F238E27FC236}">
                <a16:creationId xmlns:a16="http://schemas.microsoft.com/office/drawing/2014/main" id="{671FA426-E87F-9A55-4F13-A456D57BA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441" y="1525137"/>
            <a:ext cx="2190466" cy="2190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B0202F-BE8D-530D-CCC7-1933684460C6}"/>
              </a:ext>
            </a:extLst>
          </p:cNvPr>
          <p:cNvSpPr txBox="1"/>
          <p:nvPr/>
        </p:nvSpPr>
        <p:spPr>
          <a:xfrm>
            <a:off x="5641076" y="3970630"/>
            <a:ext cx="57320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 err="1">
                <a:solidFill>
                  <a:srgbClr val="0B2033"/>
                </a:solidFill>
              </a:rPr>
              <a:t>Frontend</a:t>
            </a:r>
            <a:r>
              <a:rPr lang="ru-RU" sz="2400" b="1" dirty="0">
                <a:solidFill>
                  <a:srgbClr val="0B2033"/>
                </a:solidFill>
              </a:rPr>
              <a:t>: JavaScript</a:t>
            </a:r>
          </a:p>
          <a:p>
            <a:pPr indent="-342900" algn="r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B2033"/>
                </a:solidFill>
              </a:rPr>
              <a:t>Интерактивность: </a:t>
            </a:r>
            <a:r>
              <a:rPr lang="ru-RU" sz="2400" dirty="0">
                <a:solidFill>
                  <a:srgbClr val="0B2033"/>
                </a:solidFill>
              </a:rPr>
              <a:t>обновление элементов без перезагрузки страниц.</a:t>
            </a:r>
          </a:p>
          <a:p>
            <a:pPr indent="-342900" algn="r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B2033"/>
                </a:solidFill>
              </a:rPr>
              <a:t>UX/UI: </a:t>
            </a:r>
            <a:r>
              <a:rPr lang="ru-RU" sz="2400" dirty="0">
                <a:solidFill>
                  <a:srgbClr val="0B2033"/>
                </a:solidFill>
              </a:rPr>
              <a:t>валидация форм на стороне клиента и отзывчивый интерфейс.</a:t>
            </a:r>
          </a:p>
        </p:txBody>
      </p:sp>
      <p:pic>
        <p:nvPicPr>
          <p:cNvPr id="2054" name="Picture 6" descr="Java-скрипт – Бесплатные иконки: файлы и папки">
            <a:extLst>
              <a:ext uri="{FF2B5EF4-FFF2-40B4-BE49-F238E27FC236}">
                <a16:creationId xmlns:a16="http://schemas.microsoft.com/office/drawing/2014/main" id="{51EF2C8A-091F-9CFA-18CB-3F1658848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538" y="3970629"/>
            <a:ext cx="1771205" cy="1843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8141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E023F-F319-ABE7-42AC-C83A4401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46CC3F10-5FB0-A859-C996-E36AB9F5BC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6ACA95-4960-8240-7B7B-ED51DE2C4019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Обоснование выбора средств разработки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6ED56-D866-E8D2-98DA-10B39C44189D}"/>
              </a:ext>
            </a:extLst>
          </p:cNvPr>
          <p:cNvSpPr txBox="1"/>
          <p:nvPr/>
        </p:nvSpPr>
        <p:spPr>
          <a:xfrm>
            <a:off x="717143" y="993795"/>
            <a:ext cx="57320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B2033"/>
                </a:solidFill>
              </a:rPr>
              <a:t>Данные: </a:t>
            </a:r>
            <a:r>
              <a:rPr lang="ru-RU" sz="2400" b="1" dirty="0" err="1">
                <a:solidFill>
                  <a:srgbClr val="0B2033"/>
                </a:solidFill>
              </a:rPr>
              <a:t>SQLite</a:t>
            </a:r>
            <a:r>
              <a:rPr lang="ru-RU" sz="2400" b="1" dirty="0">
                <a:solidFill>
                  <a:srgbClr val="0B2033"/>
                </a:solidFill>
              </a:rPr>
              <a:t> &amp; Миграции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B2033"/>
                </a:solidFill>
              </a:rPr>
              <a:t>Легкость:</a:t>
            </a:r>
            <a:r>
              <a:rPr lang="ru-RU" sz="2400" dirty="0">
                <a:solidFill>
                  <a:srgbClr val="0B2033"/>
                </a:solidFill>
              </a:rPr>
              <a:t> работа с базой в виде файла.</a:t>
            </a:r>
            <a:endParaRPr lang="ru-RU" sz="2400" b="1" dirty="0">
              <a:solidFill>
                <a:srgbClr val="0B2033"/>
              </a:solidFill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B2033"/>
                </a:solidFill>
              </a:rPr>
              <a:t>Автоматизация: </a:t>
            </a:r>
            <a:r>
              <a:rPr lang="ru-RU" sz="2400" dirty="0">
                <a:solidFill>
                  <a:srgbClr val="0B2033"/>
                </a:solidFill>
              </a:rPr>
              <a:t>механизм миграций </a:t>
            </a:r>
            <a:r>
              <a:rPr lang="ru-RU" sz="2400" dirty="0" err="1">
                <a:solidFill>
                  <a:srgbClr val="0B2033"/>
                </a:solidFill>
              </a:rPr>
              <a:t>Django</a:t>
            </a:r>
            <a:r>
              <a:rPr lang="ru-RU" sz="2400" dirty="0">
                <a:solidFill>
                  <a:srgbClr val="0B2033"/>
                </a:solidFill>
              </a:rPr>
              <a:t> исключает ошибки в SQL-коде.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BCA55-1B73-9046-A13F-C4F131DF5D0E}"/>
              </a:ext>
            </a:extLst>
          </p:cNvPr>
          <p:cNvSpPr txBox="1"/>
          <p:nvPr/>
        </p:nvSpPr>
        <p:spPr>
          <a:xfrm>
            <a:off x="4261831" y="3241051"/>
            <a:ext cx="72515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>
                <a:solidFill>
                  <a:srgbClr val="0B2033"/>
                </a:solidFill>
              </a:rPr>
              <a:t>Среда разработки: Visual Studio Code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B2033"/>
                </a:solidFill>
              </a:rPr>
              <a:t>Специализированные расширения: </a:t>
            </a:r>
            <a:r>
              <a:rPr lang="ru-RU" sz="2400" dirty="0">
                <a:solidFill>
                  <a:srgbClr val="0B2033"/>
                </a:solidFill>
              </a:rPr>
              <a:t>поддержка </a:t>
            </a:r>
            <a:r>
              <a:rPr lang="ru-RU" sz="2400" dirty="0" err="1">
                <a:solidFill>
                  <a:srgbClr val="0B2033"/>
                </a:solidFill>
              </a:rPr>
              <a:t>Django</a:t>
            </a:r>
            <a:r>
              <a:rPr lang="ru-RU" sz="2400" dirty="0">
                <a:solidFill>
                  <a:srgbClr val="0B2033"/>
                </a:solidFill>
              </a:rPr>
              <a:t> </a:t>
            </a:r>
            <a:r>
              <a:rPr lang="ru-RU" sz="2400" dirty="0" err="1">
                <a:solidFill>
                  <a:srgbClr val="0B2033"/>
                </a:solidFill>
              </a:rPr>
              <a:t>Templates</a:t>
            </a:r>
            <a:r>
              <a:rPr lang="ru-RU" sz="2400" dirty="0">
                <a:solidFill>
                  <a:srgbClr val="0B2033"/>
                </a:solidFill>
              </a:rPr>
              <a:t> (подсветка HTML-шаблонов) и </a:t>
            </a:r>
            <a:r>
              <a:rPr lang="ru-RU" sz="2400" dirty="0" err="1">
                <a:solidFill>
                  <a:srgbClr val="0B2033"/>
                </a:solidFill>
              </a:rPr>
              <a:t>Pylance</a:t>
            </a:r>
            <a:r>
              <a:rPr lang="ru-RU" sz="2400" dirty="0">
                <a:solidFill>
                  <a:srgbClr val="0B2033"/>
                </a:solidFill>
              </a:rPr>
              <a:t> для автодополнения Python-кода.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B2033"/>
                </a:solidFill>
              </a:rPr>
              <a:t>Интегрированная среда: </a:t>
            </a:r>
            <a:r>
              <a:rPr lang="ru-RU" sz="2400" dirty="0">
                <a:solidFill>
                  <a:srgbClr val="0B2033"/>
                </a:solidFill>
              </a:rPr>
              <a:t>встроенный терминал для управления миграциями и консоль </a:t>
            </a:r>
            <a:r>
              <a:rPr lang="ru-RU" sz="2400" dirty="0" err="1">
                <a:solidFill>
                  <a:srgbClr val="0B2033"/>
                </a:solidFill>
              </a:rPr>
              <a:t>Git</a:t>
            </a:r>
            <a:r>
              <a:rPr lang="ru-RU" sz="2400" dirty="0">
                <a:solidFill>
                  <a:srgbClr val="0B2033"/>
                </a:solidFill>
              </a:rPr>
              <a:t> для контроля версий в одном окне.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2B6E057-F2C1-1735-6F56-AAB7E6EE7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6345" y="993795"/>
            <a:ext cx="3766782" cy="178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7A3EDC19-4E7F-6D90-6278-2BB63D740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680" y="3550232"/>
            <a:ext cx="1817760" cy="181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0062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56D7E-E29F-D86C-ECC7-3114B9829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9E97CBA3-52F0-2F74-A0B2-416D0D1DA0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8D5085-30E5-94DC-A294-323F87CB4066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Построение моделей и структура БД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FFD51-B8A5-C565-CD48-829E6D8EA924}"/>
              </a:ext>
            </a:extLst>
          </p:cNvPr>
          <p:cNvSpPr txBox="1"/>
          <p:nvPr/>
        </p:nvSpPr>
        <p:spPr>
          <a:xfrm>
            <a:off x="1245357" y="831205"/>
            <a:ext cx="991851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B2033"/>
                </a:solidFill>
              </a:rPr>
              <a:t>Роль моделей в </a:t>
            </a:r>
            <a:r>
              <a:rPr lang="ru-RU" sz="3200" b="1" dirty="0" err="1">
                <a:solidFill>
                  <a:srgbClr val="0B2033"/>
                </a:solidFill>
              </a:rPr>
              <a:t>Django</a:t>
            </a:r>
            <a:endParaRPr lang="ru-RU" sz="3200" b="1" dirty="0">
              <a:solidFill>
                <a:srgbClr val="0B2033"/>
              </a:solidFill>
            </a:endParaRPr>
          </a:p>
          <a:p>
            <a:endParaRPr lang="ru-RU" sz="2400" dirty="0">
              <a:solidFill>
                <a:srgbClr val="0B2033"/>
              </a:solidFill>
            </a:endParaRPr>
          </a:p>
          <a:p>
            <a:r>
              <a:rPr lang="ru-RU" sz="2400" dirty="0">
                <a:solidFill>
                  <a:srgbClr val="0B2033"/>
                </a:solidFill>
              </a:rPr>
              <a:t>Модели переводят реальные объекты в понятный программе вид, создавая структуру базы данных.</a:t>
            </a:r>
          </a:p>
          <a:p>
            <a:endParaRPr lang="ru-RU" sz="2400" dirty="0">
              <a:solidFill>
                <a:srgbClr val="0B2033"/>
              </a:solidFill>
            </a:endParaRPr>
          </a:p>
          <a:p>
            <a:r>
              <a:rPr lang="ru-RU" sz="2400" dirty="0">
                <a:solidFill>
                  <a:srgbClr val="0B2033"/>
                </a:solidFill>
              </a:rPr>
              <a:t>Позволяют работать с данными как с обычными объектами, избавляя разработчика от ручного написания сложных запросов к базе.</a:t>
            </a:r>
          </a:p>
          <a:p>
            <a:endParaRPr lang="ru-RU" sz="2400" dirty="0">
              <a:solidFill>
                <a:srgbClr val="0B2033"/>
              </a:solidFill>
            </a:endParaRPr>
          </a:p>
          <a:p>
            <a:r>
              <a:rPr lang="ru-RU" sz="2400" dirty="0">
                <a:solidFill>
                  <a:srgbClr val="0B2033"/>
                </a:solidFill>
              </a:rPr>
              <a:t>Автоматически следят, чтобы в поле «Телефон» нельзя было вписать текст, а у каждого занятия был назначен преподаватель.</a:t>
            </a:r>
          </a:p>
          <a:p>
            <a:endParaRPr lang="ru-RU" sz="2400" dirty="0">
              <a:solidFill>
                <a:srgbClr val="0B2033"/>
              </a:solidFill>
            </a:endParaRPr>
          </a:p>
          <a:p>
            <a:r>
              <a:rPr lang="ru-RU" sz="2400" dirty="0">
                <a:solidFill>
                  <a:srgbClr val="0B2033"/>
                </a:solidFill>
              </a:rPr>
              <a:t>Любое изменение в модели (например, добавление нового поля «Телефон») мгновенно применяется ко всей системе через миграции.</a:t>
            </a:r>
          </a:p>
        </p:txBody>
      </p:sp>
    </p:spTree>
    <p:extLst>
      <p:ext uri="{BB962C8B-B14F-4D97-AF65-F5344CB8AC3E}">
        <p14:creationId xmlns:p14="http://schemas.microsoft.com/office/powerpoint/2010/main" val="14213711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9D62-887B-3F4A-06B3-5BB51982A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163A5B0B-069C-B980-8DE7-F8F4BD5318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FDA9BA-0B43-096E-09A5-965ED932E789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Построение моделей и структура БД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2D5B1FD-E834-0458-FD00-CBE02E9A2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89" y="857944"/>
            <a:ext cx="5782943" cy="51844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6335E0-E8B8-79E1-A308-D73E21921542}"/>
              </a:ext>
            </a:extLst>
          </p:cNvPr>
          <p:cNvSpPr txBox="1"/>
          <p:nvPr/>
        </p:nvSpPr>
        <p:spPr>
          <a:xfrm>
            <a:off x="767687" y="831205"/>
            <a:ext cx="5843320" cy="5168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Teacher(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models.Model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1800" dirty="0">
              <a:solidFill>
                <a:srgbClr val="0B203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full_name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models.CharField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ru-RU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ФИО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max_length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=150)</a:t>
            </a:r>
            <a:endParaRPr lang="ru-RU" sz="1800" dirty="0">
              <a:solidFill>
                <a:srgbClr val="0B203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photo =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models.ImageField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ru-RU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Фото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upload_to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='teachers/', blank=True, null=True)</a:t>
            </a:r>
            <a:endParaRPr lang="ru-RU" sz="1800" dirty="0">
              <a:solidFill>
                <a:srgbClr val="0B203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ru-RU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bio</a:t>
            </a:r>
            <a:r>
              <a:rPr lang="ru-RU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models.TextField</a:t>
            </a:r>
            <a:r>
              <a:rPr lang="ru-RU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('О преподавателе')</a:t>
            </a:r>
          </a:p>
          <a:p>
            <a:pPr>
              <a:lnSpc>
                <a:spcPct val="115000"/>
              </a:lnSpc>
              <a:buNone/>
            </a:pPr>
            <a:r>
              <a:rPr lang="ru-RU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experience =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models.CharField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ru-RU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Опыт работы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max_length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=100)</a:t>
            </a:r>
            <a:endParaRPr lang="ru-RU" sz="1800" dirty="0">
              <a:solidFill>
                <a:srgbClr val="0B203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def __str__(self):</a:t>
            </a:r>
            <a:endParaRPr lang="ru-RU" sz="1800" dirty="0">
              <a:solidFill>
                <a:srgbClr val="0B203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return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self.full_name</a:t>
            </a:r>
            <a:endParaRPr lang="ru-RU" sz="1800" dirty="0">
              <a:solidFill>
                <a:srgbClr val="0B203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class Meta:</a:t>
            </a:r>
            <a:endParaRPr lang="ru-RU" sz="1800" dirty="0">
              <a:solidFill>
                <a:srgbClr val="0B203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verbose_name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</a:t>
            </a:r>
            <a:r>
              <a:rPr lang="ru-RU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Преподаватель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ru-RU" sz="1800" dirty="0">
              <a:solidFill>
                <a:srgbClr val="0B203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verbose_name_plural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</a:t>
            </a:r>
            <a:r>
              <a:rPr lang="ru-RU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Преподаватели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ru-RU" sz="1800" dirty="0">
              <a:solidFill>
                <a:srgbClr val="0B203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def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get_absolute_url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(self):</a:t>
            </a:r>
            <a:endParaRPr lang="ru-RU" sz="1800" dirty="0">
              <a:solidFill>
                <a:srgbClr val="0B203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return reverse('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teacher_detail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={'pk': self.pk})</a:t>
            </a:r>
            <a:endParaRPr lang="ru-RU" sz="1800" dirty="0">
              <a:solidFill>
                <a:srgbClr val="0B203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F3D764-61CA-AA05-BD4E-41F266C09A7A}"/>
              </a:ext>
            </a:extLst>
          </p:cNvPr>
          <p:cNvSpPr txBox="1"/>
          <p:nvPr/>
        </p:nvSpPr>
        <p:spPr>
          <a:xfrm>
            <a:off x="6611007" y="1003330"/>
            <a:ext cx="554039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>
                <a:solidFill>
                  <a:srgbClr val="0B2033"/>
                </a:solidFill>
              </a:rPr>
              <a:t>Метод __</a:t>
            </a:r>
            <a:r>
              <a:rPr lang="ru-RU" sz="2400" b="1" dirty="0" err="1">
                <a:solidFill>
                  <a:srgbClr val="0B2033"/>
                </a:solidFill>
              </a:rPr>
              <a:t>str</a:t>
            </a:r>
            <a:r>
              <a:rPr lang="ru-RU" sz="2400" b="1" dirty="0">
                <a:solidFill>
                  <a:srgbClr val="0B2033"/>
                </a:solidFill>
              </a:rPr>
              <a:t>__: </a:t>
            </a:r>
            <a:r>
              <a:rPr lang="ru-RU" sz="2400" dirty="0">
                <a:solidFill>
                  <a:srgbClr val="0B2033"/>
                </a:solidFill>
              </a:rPr>
              <a:t>обеспечивает понятное отображение объектов (например, ФИО преподавателя вместо системного ID).</a:t>
            </a:r>
          </a:p>
          <a:p>
            <a:pPr algn="r"/>
            <a:endParaRPr lang="ru-RU" sz="2400" b="1" dirty="0">
              <a:solidFill>
                <a:srgbClr val="0B2033"/>
              </a:solidFill>
            </a:endParaRPr>
          </a:p>
          <a:p>
            <a:pPr algn="r"/>
            <a:r>
              <a:rPr lang="ru-RU" sz="2400" b="1" dirty="0">
                <a:solidFill>
                  <a:srgbClr val="0B2033"/>
                </a:solidFill>
              </a:rPr>
              <a:t>Класс </a:t>
            </a:r>
            <a:r>
              <a:rPr lang="ru-RU" sz="2400" b="1" dirty="0" err="1">
                <a:solidFill>
                  <a:srgbClr val="0B2033"/>
                </a:solidFill>
              </a:rPr>
              <a:t>Meta</a:t>
            </a:r>
            <a:r>
              <a:rPr lang="ru-RU" sz="2400" b="1" dirty="0">
                <a:solidFill>
                  <a:srgbClr val="0B2033"/>
                </a:solidFill>
              </a:rPr>
              <a:t>: </a:t>
            </a:r>
            <a:r>
              <a:rPr lang="ru-RU" sz="2400" dirty="0">
                <a:solidFill>
                  <a:srgbClr val="0B2033"/>
                </a:solidFill>
              </a:rPr>
              <a:t>отвечает за «человеческие» заголовки таблиц и полей на русском языке в интерфейсе.</a:t>
            </a:r>
          </a:p>
          <a:p>
            <a:pPr algn="r"/>
            <a:endParaRPr lang="ru-RU" sz="2400" b="1" dirty="0">
              <a:solidFill>
                <a:srgbClr val="0B2033"/>
              </a:solidFill>
            </a:endParaRPr>
          </a:p>
          <a:p>
            <a:pPr algn="r"/>
            <a:r>
              <a:rPr lang="ru-RU" sz="2400" b="1" dirty="0">
                <a:solidFill>
                  <a:srgbClr val="0B2033"/>
                </a:solidFill>
              </a:rPr>
              <a:t>Метод </a:t>
            </a:r>
            <a:r>
              <a:rPr lang="ru-RU" sz="2400" b="1" dirty="0" err="1">
                <a:solidFill>
                  <a:srgbClr val="0B2033"/>
                </a:solidFill>
              </a:rPr>
              <a:t>get_absolute_url</a:t>
            </a:r>
            <a:r>
              <a:rPr lang="ru-RU" sz="2400" b="1" dirty="0">
                <a:solidFill>
                  <a:srgbClr val="0B2033"/>
                </a:solidFill>
              </a:rPr>
              <a:t>: </a:t>
            </a:r>
            <a:r>
              <a:rPr lang="ru-RU" sz="2400" dirty="0">
                <a:solidFill>
                  <a:srgbClr val="0B2033"/>
                </a:solidFill>
              </a:rPr>
              <a:t>автоматически создает прямые ссылки на страницы объектов, упрощая навигацию по сайту.</a:t>
            </a:r>
          </a:p>
        </p:txBody>
      </p:sp>
    </p:spTree>
    <p:extLst>
      <p:ext uri="{BB962C8B-B14F-4D97-AF65-F5344CB8AC3E}">
        <p14:creationId xmlns:p14="http://schemas.microsoft.com/office/powerpoint/2010/main" val="2163249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5122E-5041-53D4-2077-A6110313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571DEA08-8D41-6980-867F-D52D8BADE3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40A578-A936-CCAF-CC00-62D2F2BD9C68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Представления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D03690-B6EB-A611-3C21-508BF356A363}"/>
              </a:ext>
            </a:extLst>
          </p:cNvPr>
          <p:cNvSpPr txBox="1"/>
          <p:nvPr/>
        </p:nvSpPr>
        <p:spPr>
          <a:xfrm>
            <a:off x="1245357" y="831205"/>
            <a:ext cx="991851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B2033"/>
                </a:solidFill>
              </a:rPr>
              <a:t>Логика обработки запросов</a:t>
            </a:r>
          </a:p>
          <a:p>
            <a:pPr algn="ctr"/>
            <a:endParaRPr lang="ru-RU" sz="2400" dirty="0">
              <a:solidFill>
                <a:srgbClr val="0B2033"/>
              </a:solidFill>
            </a:endParaRPr>
          </a:p>
          <a:p>
            <a:r>
              <a:rPr lang="ru-RU" sz="2400" dirty="0">
                <a:solidFill>
                  <a:srgbClr val="0B2033"/>
                </a:solidFill>
              </a:rPr>
              <a:t>Принимает данные от пользователя (например, из формы записи) и решает, что с ними делать.</a:t>
            </a:r>
          </a:p>
          <a:p>
            <a:endParaRPr lang="ru-RU" sz="2400" dirty="0">
              <a:solidFill>
                <a:srgbClr val="0B2033"/>
              </a:solidFill>
            </a:endParaRPr>
          </a:p>
          <a:p>
            <a:r>
              <a:rPr lang="ru-RU" sz="2400" dirty="0">
                <a:solidFill>
                  <a:srgbClr val="0B2033"/>
                </a:solidFill>
              </a:rPr>
              <a:t>Извлекает нужные объекты из базы данных через модели и передает их в шаблоны.</a:t>
            </a:r>
          </a:p>
          <a:p>
            <a:endParaRPr lang="ru-RU" sz="2400" dirty="0">
              <a:solidFill>
                <a:srgbClr val="0B2033"/>
              </a:solidFill>
            </a:endParaRPr>
          </a:p>
          <a:p>
            <a:r>
              <a:rPr lang="ru-RU" sz="2400" dirty="0">
                <a:solidFill>
                  <a:srgbClr val="0B2033"/>
                </a:solidFill>
              </a:rPr>
              <a:t>Проверяет права пользователя (например, разрешен ли доступ к админ-панели или личному кабинету).</a:t>
            </a:r>
          </a:p>
          <a:p>
            <a:endParaRPr lang="ru-RU" sz="2400" dirty="0">
              <a:solidFill>
                <a:srgbClr val="0B2033"/>
              </a:solidFill>
            </a:endParaRPr>
          </a:p>
          <a:p>
            <a:r>
              <a:rPr lang="ru-RU" sz="2400" dirty="0">
                <a:solidFill>
                  <a:srgbClr val="0B2033"/>
                </a:solidFill>
              </a:rPr>
              <a:t>Генерирует итоговую HTML-страницу или перенаправляет пользователя (</a:t>
            </a:r>
            <a:r>
              <a:rPr lang="ru-RU" sz="2400" dirty="0" err="1">
                <a:solidFill>
                  <a:srgbClr val="0B2033"/>
                </a:solidFill>
              </a:rPr>
              <a:t>Redirect</a:t>
            </a:r>
            <a:r>
              <a:rPr lang="ru-RU" sz="2400" dirty="0">
                <a:solidFill>
                  <a:srgbClr val="0B2033"/>
                </a:solidFill>
              </a:rPr>
              <a:t>) после успешного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2413593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5AF02-AA0F-A11F-CEE5-F8548F16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07ABC351-717A-13FB-4F0E-4657A0D5B0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64A0708-5A18-1744-9B04-415D3F731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89" y="857944"/>
            <a:ext cx="5782943" cy="51844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E6584C-7850-4271-689D-F864205DD26D}"/>
              </a:ext>
            </a:extLst>
          </p:cNvPr>
          <p:cNvSpPr txBox="1"/>
          <p:nvPr/>
        </p:nvSpPr>
        <p:spPr>
          <a:xfrm>
            <a:off x="6095999" y="751395"/>
            <a:ext cx="576909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>
                <a:solidFill>
                  <a:srgbClr val="0B2033"/>
                </a:solidFill>
              </a:rPr>
              <a:t>GET: </a:t>
            </a:r>
            <a:r>
              <a:rPr lang="ru-RU" sz="2400" dirty="0">
                <a:solidFill>
                  <a:srgbClr val="0B2033"/>
                </a:solidFill>
              </a:rPr>
              <a:t>отображение пустой</a:t>
            </a:r>
          </a:p>
          <a:p>
            <a:pPr algn="r"/>
            <a:r>
              <a:rPr lang="ru-RU" sz="2400" dirty="0">
                <a:solidFill>
                  <a:srgbClr val="0B2033"/>
                </a:solidFill>
              </a:rPr>
              <a:t> формы входа.</a:t>
            </a:r>
          </a:p>
          <a:p>
            <a:pPr algn="r"/>
            <a:r>
              <a:rPr lang="ru-RU" sz="2400" b="1" dirty="0">
                <a:solidFill>
                  <a:srgbClr val="0B2033"/>
                </a:solidFill>
              </a:rPr>
              <a:t>POST: </a:t>
            </a:r>
            <a:r>
              <a:rPr lang="ru-RU" sz="2400" dirty="0">
                <a:solidFill>
                  <a:srgbClr val="0B2033"/>
                </a:solidFill>
              </a:rPr>
              <a:t>извлечение данных (логин/пароль) и их проверка.</a:t>
            </a:r>
          </a:p>
          <a:p>
            <a:pPr algn="r"/>
            <a:r>
              <a:rPr lang="ru-RU" sz="2400" b="1" dirty="0">
                <a:solidFill>
                  <a:srgbClr val="0B2033"/>
                </a:solidFill>
              </a:rPr>
              <a:t>Аутентификация: </a:t>
            </a:r>
            <a:r>
              <a:rPr lang="ru-RU" sz="2400" dirty="0">
                <a:solidFill>
                  <a:srgbClr val="0B2033"/>
                </a:solidFill>
              </a:rPr>
              <a:t>вызов функции </a:t>
            </a:r>
            <a:r>
              <a:rPr lang="ru-RU" sz="2400" dirty="0" err="1">
                <a:solidFill>
                  <a:srgbClr val="0B2033"/>
                </a:solidFill>
              </a:rPr>
              <a:t>authenticate</a:t>
            </a:r>
            <a:r>
              <a:rPr lang="ru-RU" sz="2400" dirty="0">
                <a:solidFill>
                  <a:srgbClr val="0B2033"/>
                </a:solidFill>
              </a:rPr>
              <a:t> для проверки пары логин/пароль в базе данных.</a:t>
            </a:r>
          </a:p>
          <a:p>
            <a:pPr algn="r"/>
            <a:r>
              <a:rPr lang="ru-RU" sz="2400" b="1" dirty="0">
                <a:solidFill>
                  <a:srgbClr val="0B2033"/>
                </a:solidFill>
              </a:rPr>
              <a:t>Обработка ошибок: </a:t>
            </a:r>
            <a:r>
              <a:rPr lang="ru-RU" sz="2400" dirty="0">
                <a:solidFill>
                  <a:srgbClr val="0B2033"/>
                </a:solidFill>
              </a:rPr>
              <a:t>возврат сообщения «Неверный логин или пароль» без перезагрузки страницы.</a:t>
            </a:r>
          </a:p>
          <a:p>
            <a:pPr algn="r"/>
            <a:r>
              <a:rPr lang="ru-RU" sz="2400" b="1" dirty="0">
                <a:solidFill>
                  <a:srgbClr val="0B2033"/>
                </a:solidFill>
              </a:rPr>
              <a:t>Умный редирект:</a:t>
            </a:r>
          </a:p>
          <a:p>
            <a:pPr algn="r"/>
            <a:r>
              <a:rPr lang="ru-RU" sz="2400" dirty="0">
                <a:solidFill>
                  <a:srgbClr val="0B2033"/>
                </a:solidFill>
              </a:rPr>
              <a:t>	Создание сессии через функцию </a:t>
            </a:r>
            <a:r>
              <a:rPr lang="ru-RU" sz="2400" dirty="0" err="1">
                <a:solidFill>
                  <a:srgbClr val="0B2033"/>
                </a:solidFill>
              </a:rPr>
              <a:t>login</a:t>
            </a:r>
            <a:r>
              <a:rPr lang="ru-RU" sz="2400" dirty="0">
                <a:solidFill>
                  <a:srgbClr val="0B2033"/>
                </a:solidFill>
              </a:rPr>
              <a:t>. Переход по параметру </a:t>
            </a:r>
            <a:r>
              <a:rPr lang="ru-RU" sz="2400" dirty="0" err="1">
                <a:solidFill>
                  <a:srgbClr val="0B2033"/>
                </a:solidFill>
              </a:rPr>
              <a:t>next</a:t>
            </a:r>
            <a:r>
              <a:rPr lang="ru-RU" sz="2400" dirty="0">
                <a:solidFill>
                  <a:srgbClr val="0B2033"/>
                </a:solidFill>
              </a:rPr>
              <a:t> (сохраненный адрес) или в профиль пользователя.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DFF7F-C2EE-B049-4E88-3F74FE35667B}"/>
              </a:ext>
            </a:extLst>
          </p:cNvPr>
          <p:cNvSpPr txBox="1"/>
          <p:nvPr/>
        </p:nvSpPr>
        <p:spPr>
          <a:xfrm>
            <a:off x="727089" y="706453"/>
            <a:ext cx="5960221" cy="54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login_view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(request):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request.method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'POST':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u =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request.POST.get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('username')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 =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request.POST.get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('password')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user = authenticate(request, username=u, password=p)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if user is not None: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login(request, user)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next_url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request.GET.get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('next')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if 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next_url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return redirect(</a:t>
            </a:r>
            <a:r>
              <a:rPr lang="en-US" sz="1800" dirty="0" err="1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next_url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return redirect('profile') 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else:</a:t>
            </a:r>
          </a:p>
          <a:p>
            <a:pPr>
              <a:lnSpc>
                <a:spcPct val="115000"/>
              </a:lnSpc>
              <a:buNone/>
            </a:pP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return render(request,'login.html', {'error': '</a:t>
            </a:r>
            <a:r>
              <a:rPr lang="ru-RU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Неверный логин или пароль'})</a:t>
            </a:r>
          </a:p>
          <a:p>
            <a:pPr>
              <a:lnSpc>
                <a:spcPct val="115000"/>
              </a:lnSpc>
              <a:buNone/>
            </a:pPr>
            <a:r>
              <a:rPr lang="ru-RU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B20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 render(request, 'login.html')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B7D72-A28E-F850-9B9C-3227F56C23AB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Представления</a:t>
            </a:r>
          </a:p>
        </p:txBody>
      </p:sp>
    </p:spTree>
    <p:extLst>
      <p:ext uri="{BB962C8B-B14F-4D97-AF65-F5344CB8AC3E}">
        <p14:creationId xmlns:p14="http://schemas.microsoft.com/office/powerpoint/2010/main" val="4113466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68D0E-F6D9-1476-1960-02BBDDF6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2AE67CD1-4CBD-9CB6-37C0-6884319DBD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DFB2A-8DC9-33E7-18C3-02393C44D82D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Главная страница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9F8A06-D93C-93B3-637A-96D2B1C4D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1" y="766481"/>
            <a:ext cx="11045198" cy="532503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514760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1CE95-95E3-D691-13DA-BCADD711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620D4A52-4515-A915-BE44-6951D2C3D5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B03D0-952B-9AA2-9152-8AE69AC8D362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Каталог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ADAA93-945E-AA27-6E30-407AEC798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1" y="738768"/>
            <a:ext cx="11050324" cy="532503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3988375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B576D-C877-8C19-237A-73BAB004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85DED497-BADB-E4EF-7B87-DDD24234ED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82BD3-6425-1204-53C2-7BAF5B591D67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Детали курса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9D9B99-D5D6-8903-D59E-A0D3DD63A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32" y="831205"/>
            <a:ext cx="10629736" cy="52808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9173563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28A4-43A8-5AFC-5308-ECF37E0A0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F344279E-E4EE-A61D-8B8F-A209E1D28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30533-A6BA-4485-AAA5-69A8EEFC890B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Детали преподавателя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4A4A29-5E11-EAA6-0B88-4CC9F8853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62" y="738768"/>
            <a:ext cx="10127875" cy="560281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7694280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23C3D-C95B-9411-FDC3-581B04B44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7673CAD5-4383-9043-1057-D58CAD6D9F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29844-5ADF-4289-F0DE-FE3EA71E030F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Профиль пользователя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E26A0A-32E4-F453-9188-FB984D35E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94" y="712694"/>
            <a:ext cx="8936612" cy="54326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7649820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23489-AED6-D7AA-F983-DDE592A4E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EDDB6404-84AE-10D7-721D-88D653047E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C9362-3875-428C-6FEE-80AF00452CC6}"/>
              </a:ext>
            </a:extLst>
          </p:cNvPr>
          <p:cNvSpPr txBox="1"/>
          <p:nvPr/>
        </p:nvSpPr>
        <p:spPr>
          <a:xfrm>
            <a:off x="1534449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Форма регистрации и записи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930D9E-9826-8124-2742-B2E5923F8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38768"/>
            <a:ext cx="4953542" cy="592353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3FA9C2A-2742-3C66-E863-24E7F7BF1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633" y="738768"/>
            <a:ext cx="3538735" cy="592353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9024488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81A8B-5B7F-0DF0-60BB-F50EB23B1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6E91AC2D-D689-20A3-DBA4-AD446D6613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3FD71-A517-3C05-8716-3F3F1456F061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Профиль администратора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6822D8-9CDF-BCEF-D9DC-B1E721558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74" y="699247"/>
            <a:ext cx="10137052" cy="545950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7943824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7F8B7-45D3-EEBE-1785-43E0D4384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BB692887-2623-B442-09F7-0021C0A0A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ECEC6-4176-9D2A-528D-C07DDC49A687}"/>
              </a:ext>
            </a:extLst>
          </p:cNvPr>
          <p:cNvSpPr txBox="1"/>
          <p:nvPr/>
        </p:nvSpPr>
        <p:spPr>
          <a:xfrm>
            <a:off x="767224" y="52916"/>
            <a:ext cx="10657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Формы редактирования курсов и преподавателей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C8AEED-BC23-2E58-89E4-FDF7C6A78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117" y="699247"/>
            <a:ext cx="3617457" cy="578223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F93295-BE94-EE30-3A33-DE657C1BF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65834"/>
            <a:ext cx="4906060" cy="54490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7378073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F92B8-F8A1-1258-7816-429F0406F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0C7B2AD6-8ACF-8756-901B-FEF8565C24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EF4505-633A-CE15-78B5-DA15CE9AA286}"/>
              </a:ext>
            </a:extLst>
          </p:cNvPr>
          <p:cNvSpPr txBox="1"/>
          <p:nvPr/>
        </p:nvSpPr>
        <p:spPr>
          <a:xfrm>
            <a:off x="6944874" y="1094614"/>
            <a:ext cx="483923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>
                <a:solidFill>
                  <a:srgbClr val="0B2033"/>
                </a:solidFill>
              </a:rPr>
              <a:t>Юнит-тесты </a:t>
            </a:r>
            <a:r>
              <a:rPr lang="en-US" sz="2400" b="1" dirty="0">
                <a:solidFill>
                  <a:srgbClr val="0B2033"/>
                </a:solidFill>
              </a:rPr>
              <a:t>Django</a:t>
            </a:r>
            <a:endParaRPr lang="ru-RU" sz="2400" b="1" dirty="0">
              <a:solidFill>
                <a:srgbClr val="0B2033"/>
              </a:solidFill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B2033"/>
                </a:solidFill>
              </a:rPr>
              <a:t>Контроль работоспособности отдельных функций, методов моделей и форм.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B2033"/>
                </a:solidFill>
              </a:rPr>
              <a:t>Выполнение тестов без запуска всего приложения целиком.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B2033"/>
                </a:solidFill>
              </a:rPr>
              <a:t>Быстрое обнаружение ошибок при внесении изменений в код.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B2033"/>
                </a:solidFill>
              </a:rPr>
              <a:t>Использование встроенного инструментария </a:t>
            </a:r>
            <a:r>
              <a:rPr lang="ru-RU" sz="2400" dirty="0" err="1">
                <a:solidFill>
                  <a:srgbClr val="0B2033"/>
                </a:solidFill>
              </a:rPr>
              <a:t>Django</a:t>
            </a:r>
            <a:r>
              <a:rPr lang="ru-RU" sz="2400" dirty="0">
                <a:solidFill>
                  <a:srgbClr val="0B2033"/>
                </a:solidFill>
              </a:rPr>
              <a:t> для регулярной проверки логики.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16E04E-7BDC-4BE1-C937-DF4FA0463EA9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Тестирование программного продукта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AA588B-5B28-260B-E245-D3E094AC8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39" y="1132254"/>
            <a:ext cx="5836841" cy="46357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167344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B703-27F0-F508-FEBA-FB7ABC29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FB308AFC-3E4F-2FA1-B585-62891702F7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F92862-0366-8A3D-2D93-E8B9BD29C29E}"/>
              </a:ext>
            </a:extLst>
          </p:cNvPr>
          <p:cNvSpPr txBox="1"/>
          <p:nvPr/>
        </p:nvSpPr>
        <p:spPr>
          <a:xfrm>
            <a:off x="1534448" y="92437"/>
            <a:ext cx="912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B2033"/>
                </a:solidFill>
                <a:latin typeface="+mj-lt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9239F4-A532-A531-5504-48C8286F9780}"/>
              </a:ext>
            </a:extLst>
          </p:cNvPr>
          <p:cNvSpPr txBox="1"/>
          <p:nvPr/>
        </p:nvSpPr>
        <p:spPr>
          <a:xfrm>
            <a:off x="1136743" y="982176"/>
            <a:ext cx="991851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B2033"/>
                </a:solidFill>
              </a:rPr>
              <a:t>Цель достигнута</a:t>
            </a:r>
            <a:r>
              <a:rPr lang="ru-RU" sz="2400" dirty="0">
                <a:solidFill>
                  <a:srgbClr val="0B2033"/>
                </a:solidFill>
              </a:rPr>
              <a:t>: разработано и протестировано готовое к эксплуатации веб-приложение для ОУ «Просветление».</a:t>
            </a:r>
          </a:p>
          <a:p>
            <a:endParaRPr lang="ru-RU" sz="2400" dirty="0">
              <a:solidFill>
                <a:srgbClr val="0B2033"/>
              </a:solidFill>
            </a:endParaRPr>
          </a:p>
          <a:p>
            <a:r>
              <a:rPr lang="ru-RU" sz="2400" b="1" dirty="0">
                <a:solidFill>
                  <a:srgbClr val="0B2033"/>
                </a:solidFill>
              </a:rPr>
              <a:t>Реализованный функционал</a:t>
            </a:r>
            <a:r>
              <a:rPr lang="ru-RU" sz="2400" dirty="0">
                <a:solidFill>
                  <a:srgbClr val="0B2033"/>
                </a:solidFill>
              </a:rPr>
              <a:t>: онлайн-запись на курсы и личный кабинет, система управления контентом (админ-панель), адаптивный интерфейс для всех типов устройств.</a:t>
            </a:r>
          </a:p>
          <a:p>
            <a:endParaRPr lang="ru-RU" sz="2400" dirty="0">
              <a:solidFill>
                <a:srgbClr val="0B2033"/>
              </a:solidFill>
            </a:endParaRPr>
          </a:p>
          <a:p>
            <a:r>
              <a:rPr lang="ru-RU" sz="2400" b="1" dirty="0">
                <a:solidFill>
                  <a:srgbClr val="0B2033"/>
                </a:solidFill>
              </a:rPr>
              <a:t>Технический итог</a:t>
            </a:r>
            <a:r>
              <a:rPr lang="ru-RU" sz="2400" dirty="0">
                <a:solidFill>
                  <a:srgbClr val="0B2033"/>
                </a:solidFill>
              </a:rPr>
              <a:t>: проект развернут на хостинге </a:t>
            </a:r>
            <a:r>
              <a:rPr lang="ru-RU" sz="2400" dirty="0" err="1">
                <a:solidFill>
                  <a:srgbClr val="0B2033"/>
                </a:solidFill>
              </a:rPr>
              <a:t>Timeweb</a:t>
            </a:r>
            <a:r>
              <a:rPr lang="ru-RU" sz="2400" dirty="0">
                <a:solidFill>
                  <a:srgbClr val="0B2033"/>
                </a:solidFill>
              </a:rPr>
              <a:t> с использованием связки </a:t>
            </a:r>
            <a:r>
              <a:rPr lang="ru-RU" sz="2400" dirty="0" err="1">
                <a:solidFill>
                  <a:srgbClr val="0B2033"/>
                </a:solidFill>
              </a:rPr>
              <a:t>Django</a:t>
            </a:r>
            <a:r>
              <a:rPr lang="ru-RU" sz="2400" dirty="0">
                <a:solidFill>
                  <a:srgbClr val="0B2033"/>
                </a:solidFill>
              </a:rPr>
              <a:t> + MySQL.</a:t>
            </a:r>
          </a:p>
          <a:p>
            <a:endParaRPr lang="ru-RU" sz="2400" dirty="0">
              <a:solidFill>
                <a:srgbClr val="0B2033"/>
              </a:solidFill>
            </a:endParaRPr>
          </a:p>
          <a:p>
            <a:r>
              <a:rPr lang="ru-RU" sz="2400" b="1" dirty="0">
                <a:solidFill>
                  <a:srgbClr val="0B2033"/>
                </a:solidFill>
              </a:rPr>
              <a:t>Результат</a:t>
            </a:r>
            <a:r>
              <a:rPr lang="ru-RU" sz="2400" dirty="0">
                <a:solidFill>
                  <a:srgbClr val="0B2033"/>
                </a:solidFill>
              </a:rPr>
              <a:t>: создан эффективный инструмент для автоматизации взаимодействия с учениками и укрепления имиджа образовательного центра.</a:t>
            </a:r>
          </a:p>
        </p:txBody>
      </p:sp>
    </p:spTree>
    <p:extLst>
      <p:ext uri="{BB962C8B-B14F-4D97-AF65-F5344CB8AC3E}">
        <p14:creationId xmlns:p14="http://schemas.microsoft.com/office/powerpoint/2010/main" val="2011416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128B1-EAA7-8FC7-A21B-73F89F3B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3">
            <a:extLst>
              <a:ext uri="{FF2B5EF4-FFF2-40B4-BE49-F238E27FC236}">
                <a16:creationId xmlns:a16="http://schemas.microsoft.com/office/drawing/2014/main" id="{4B94E739-7955-3F53-841B-3F35D0F4BD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8D948-C8EE-F0DB-7ADF-A63D3FC3B2DF}"/>
              </a:ext>
            </a:extLst>
          </p:cNvPr>
          <p:cNvSpPr txBox="1"/>
          <p:nvPr/>
        </p:nvSpPr>
        <p:spPr>
          <a:xfrm>
            <a:off x="1433466" y="2921168"/>
            <a:ext cx="93250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6000" b="1" dirty="0">
                <a:solidFill>
                  <a:srgbClr val="0B2033"/>
                </a:solidFill>
              </a:rPr>
              <a:t>СПАСИБО ЗА ВНИМАНИЕ</a:t>
            </a:r>
            <a:endParaRPr lang="ru-RU" sz="6000" dirty="0">
              <a:solidFill>
                <a:srgbClr val="0B2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404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1050</Words>
  <Application>Microsoft Office PowerPoint</Application>
  <PresentationFormat>Широкоэкранный</PresentationFormat>
  <Paragraphs>131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Consolas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марина 2346</dc:creator>
  <cp:lastModifiedBy>марина 2346</cp:lastModifiedBy>
  <cp:revision>4</cp:revision>
  <dcterms:created xsi:type="dcterms:W3CDTF">2026-04-02T16:59:35Z</dcterms:created>
  <dcterms:modified xsi:type="dcterms:W3CDTF">2026-04-02T19:42:49Z</dcterms:modified>
</cp:coreProperties>
</file>