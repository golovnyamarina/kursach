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9" r:id="rId4"/>
    <p:sldId id="261" r:id="rId5"/>
    <p:sldId id="262" r:id="rId6"/>
    <p:sldId id="271" r:id="rId7"/>
    <p:sldId id="272" r:id="rId8"/>
    <p:sldId id="273" r:id="rId9"/>
    <p:sldId id="274" r:id="rId10"/>
    <p:sldId id="269" r:id="rId11"/>
    <p:sldId id="270" r:id="rId12"/>
    <p:sldId id="265" r:id="rId13"/>
    <p:sldId id="267" r:id="rId14"/>
    <p:sldId id="266" r:id="rId15"/>
    <p:sldId id="26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A0CBE3A-5ACA-42FF-8B4B-0A0A4CEF1F4C}">
          <p14:sldIdLst>
            <p14:sldId id="256"/>
            <p14:sldId id="257"/>
            <p14:sldId id="259"/>
            <p14:sldId id="261"/>
            <p14:sldId id="262"/>
            <p14:sldId id="271"/>
            <p14:sldId id="272"/>
            <p14:sldId id="273"/>
            <p14:sldId id="274"/>
            <p14:sldId id="269"/>
            <p14:sldId id="270"/>
            <p14:sldId id="265"/>
            <p14:sldId id="267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тудент" initials="С" lastIdx="1" clrIdx="0">
    <p:extLst>
      <p:ext uri="{19B8F6BF-5375-455C-9EA6-DF929625EA0E}">
        <p15:presenceInfo xmlns:p15="http://schemas.microsoft.com/office/powerpoint/2012/main" userId="Студент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93" autoAdjust="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39B76-9CFE-4BA0-89C6-3BDDA92610D7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F9F9A-5C77-4E90-A707-170D39A40A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61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F9F9A-5C77-4E90-A707-170D39A40AA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1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04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02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8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20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35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60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38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2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33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00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2464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542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129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48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953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CA95F-949A-4C6D-AA18-A0524F746B58}" type="datetimeFigureOut">
              <a:rPr lang="ru-RU" smtClean="0"/>
              <a:t>08.04.2024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AD0E19-09C4-49A6-9BDD-DF7B059759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18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сайта для организации, занимающейся продажей мебели»</a:t>
            </a:r>
            <a:b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МДК.08.01 «Проектирование и разработка интерфейсов пользователя»</a:t>
            </a:r>
            <a:br>
              <a:rPr lang="ru-RU" sz="1600" u="sng" dirty="0"/>
            </a:b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199407" y="211038"/>
            <a:ext cx="91694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Московской области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образовательное учреждение высшего образования Московской области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«Государственный гуманитарно-технологический университет»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Ликино-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Дулевский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политехнический колледж – филиал ГГТУ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390535" y="3642597"/>
            <a:ext cx="594739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 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Аксенова Софья Алексеевна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3 курса группы ИСП.21.2А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 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очной формы обучения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65212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33491"/>
            <a:ext cx="8596668" cy="4407871"/>
          </a:xfrm>
        </p:spPr>
        <p:txBody>
          <a:bodyPr>
            <a:normAutofit fontScale="92500"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Основная цель — предоставить покупателям возможность оставить заявку на нужную мебель прямо на сайте и при этом показать всю необходимую информацию о будущей покупке.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данной цели были поставлены следующие задачи: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Изучить структуру мебельного магазина и бизнес-процессы, происходящие в нем.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Спроектировать архитектуру сайта, разработать алгоритмы работы с данными.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Протестировать работоспособность сайта, внести корректировки при необходимости.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668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b="1" dirty="0"/>
              <a:t>Обоснование выбора </a:t>
            </a:r>
            <a:r>
              <a:rPr lang="en-US" b="1" dirty="0"/>
              <a:t>CASE – </a:t>
            </a:r>
            <a:r>
              <a:rPr lang="ru-RU" b="1" dirty="0"/>
              <a:t>средств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CASE-средства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это набор инструментов и методик, используемых для упрощения, ускорения и повышения качества процессов создания и сопровождения программного обеспечения.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draw.io - это веб-инструмент для построения диаграмм, который позволяет пользователям создавать различные типы диаграмм, такие как блок-схемы, UML-диаграммы, сетевые диаграммы и многое другое. </a:t>
            </a:r>
          </a:p>
        </p:txBody>
      </p:sp>
    </p:spTree>
    <p:extLst>
      <p:ext uri="{BB962C8B-B14F-4D97-AF65-F5344CB8AC3E}">
        <p14:creationId xmlns:p14="http://schemas.microsoft.com/office/powerpoint/2010/main" val="5666168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04446"/>
            <a:ext cx="8596668" cy="1525954"/>
          </a:xfrm>
        </p:spPr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48049" y="938530"/>
            <a:ext cx="5506720" cy="58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9968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100" y="1270000"/>
            <a:ext cx="4721225" cy="53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2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Итоговый вариант</a:t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FF715D-0932-4E76-8F10-DB2AF75FDF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35169" y="1395176"/>
            <a:ext cx="6249033" cy="455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20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Итоговый вариант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EA1925-2303-48B3-827E-BA0A17EBDD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42206" y="1402672"/>
            <a:ext cx="6145897" cy="435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4615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Итоговый вариант</a:t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A332B3-C6B1-4500-A8B4-1512D0D330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6110" y="1459357"/>
            <a:ext cx="6575722" cy="19913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066B47-16C9-4A74-9FD1-71A524EF07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41" y="3925785"/>
            <a:ext cx="8211406" cy="132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89653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Итоговый вариант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99C168-E201-4595-9A23-CADAE36156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6583" y="1553113"/>
            <a:ext cx="7944667" cy="456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5809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9604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</a:t>
            </a:r>
            <a:br>
              <a:rPr lang="ru-RU" dirty="0"/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FE33BA-F7E4-401E-A369-0499A34F5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7031" y="1723428"/>
            <a:ext cx="7731604" cy="38318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Было создано 5 моделей.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Модель “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в которой находятся: наименование продукции, описание, цена, фото.</a:t>
            </a: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0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Product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models.Model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objects =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title =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models.CharField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Наименование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max_length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50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description =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models.TextField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Описание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price =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models.IntegerField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Цена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photo =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models.ImageField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upload_to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"photos"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default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blank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null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verbose_name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Фото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@property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photo_url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.photo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and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hasattr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.photo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url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.photo.url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__str__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.title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Meta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verbose_name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Товар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b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kumimoji="0" lang="en-US" altLang="ru-RU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verbose_name_plural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Товары</a:t>
            </a: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435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83694"/>
            <a:ext cx="10188934" cy="4764705"/>
          </a:xfrm>
        </p:spPr>
        <p:txBody>
          <a:bodyPr>
            <a:normAutofit fontScale="47500" lnSpcReduction="20000"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тесте </a:t>
            </a:r>
            <a:r>
              <a:rPr lang="en-US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проверяется, что строковое представление объекта модели </a:t>
            </a:r>
            <a:r>
              <a:rPr lang="en-US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соответствует ожидаемому значению 'Шкаф'. 	В методе </a:t>
            </a:r>
            <a:r>
              <a:rPr lang="en-US" sz="3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создается экземпляр модели </a:t>
            </a:r>
            <a:r>
              <a:rPr lang="en-US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 заданными параметрами, который затем используется в тесте. Метод </a:t>
            </a:r>
            <a:r>
              <a:rPr lang="en-US" sz="3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tearDown</a:t>
            </a:r>
            <a:r>
              <a:rPr lang="ru-RU" sz="3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обычно используется для очистки ресурсов после выполнения теста, но в данном случае он пустой, что может быть связано с тем, что никаких дополнительных действий по очистке не требуется.</a:t>
            </a: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from </a:t>
            </a:r>
            <a:r>
              <a:rPr lang="en-US" sz="2100" dirty="0" err="1">
                <a:latin typeface="Consolas" panose="020B0609020204030204" pitchFamily="49" charset="0"/>
              </a:rPr>
              <a:t>unittest</a:t>
            </a:r>
            <a:r>
              <a:rPr lang="en-US" sz="2100" dirty="0">
                <a:latin typeface="Consolas" panose="020B0609020204030204" pitchFamily="49" charset="0"/>
              </a:rPr>
              <a:t> import skip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from </a:t>
            </a:r>
            <a:r>
              <a:rPr lang="en-US" sz="2100" dirty="0" err="1">
                <a:latin typeface="Consolas" panose="020B0609020204030204" pitchFamily="49" charset="0"/>
              </a:rPr>
              <a:t>django.test</a:t>
            </a:r>
            <a:r>
              <a:rPr lang="en-US" sz="2100" dirty="0">
                <a:latin typeface="Consolas" panose="020B0609020204030204" pitchFamily="49" charset="0"/>
              </a:rPr>
              <a:t> import </a:t>
            </a:r>
            <a:r>
              <a:rPr lang="en-US" sz="2100" dirty="0" err="1">
                <a:latin typeface="Consolas" panose="020B0609020204030204" pitchFamily="49" charset="0"/>
              </a:rPr>
              <a:t>TestCase</a:t>
            </a:r>
            <a:endParaRPr lang="en-US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from </a:t>
            </a:r>
            <a:r>
              <a:rPr lang="en-US" sz="2100" dirty="0" err="1">
                <a:latin typeface="Consolas" panose="020B0609020204030204" pitchFamily="49" charset="0"/>
              </a:rPr>
              <a:t>blog.models</a:t>
            </a:r>
            <a:r>
              <a:rPr lang="en-US" sz="2100" dirty="0">
                <a:latin typeface="Consolas" panose="020B0609020204030204" pitchFamily="49" charset="0"/>
              </a:rPr>
              <a:t> import Product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class </a:t>
            </a:r>
            <a:r>
              <a:rPr lang="en-US" sz="2100" dirty="0" err="1">
                <a:latin typeface="Consolas" panose="020B0609020204030204" pitchFamily="49" charset="0"/>
              </a:rPr>
              <a:t>MyModelTest</a:t>
            </a:r>
            <a:r>
              <a:rPr lang="en-US" sz="2100" dirty="0">
                <a:latin typeface="Consolas" panose="020B0609020204030204" pitchFamily="49" charset="0"/>
              </a:rPr>
              <a:t>(</a:t>
            </a:r>
            <a:r>
              <a:rPr lang="en-US" sz="2100" dirty="0" err="1">
                <a:latin typeface="Consolas" panose="020B0609020204030204" pitchFamily="49" charset="0"/>
              </a:rPr>
              <a:t>TestCase</a:t>
            </a:r>
            <a:r>
              <a:rPr lang="en-US" sz="21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    def </a:t>
            </a:r>
            <a:r>
              <a:rPr lang="en-US" sz="2100" dirty="0" err="1">
                <a:latin typeface="Consolas" panose="020B0609020204030204" pitchFamily="49" charset="0"/>
              </a:rPr>
              <a:t>setUp</a:t>
            </a:r>
            <a:r>
              <a:rPr lang="en-US" sz="2100" dirty="0">
                <a:latin typeface="Consolas" panose="020B0609020204030204" pitchFamily="49" charset="0"/>
              </a:rPr>
              <a:t>(self):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        </a:t>
            </a:r>
            <a:r>
              <a:rPr lang="en-US" sz="2100" dirty="0" err="1">
                <a:latin typeface="Consolas" panose="020B0609020204030204" pitchFamily="49" charset="0"/>
              </a:rPr>
              <a:t>self.object</a:t>
            </a:r>
            <a:r>
              <a:rPr lang="en-US" sz="2100" dirty="0">
                <a:latin typeface="Consolas" panose="020B0609020204030204" pitchFamily="49" charset="0"/>
              </a:rPr>
              <a:t> = </a:t>
            </a:r>
            <a:r>
              <a:rPr lang="en-US" sz="2100" dirty="0" err="1">
                <a:latin typeface="Consolas" panose="020B0609020204030204" pitchFamily="49" charset="0"/>
              </a:rPr>
              <a:t>Product.objects.create</a:t>
            </a:r>
            <a:r>
              <a:rPr lang="en-US" sz="2100" dirty="0">
                <a:latin typeface="Consolas" panose="020B0609020204030204" pitchFamily="49" charset="0"/>
              </a:rPr>
              <a:t>(title="</a:t>
            </a:r>
            <a:r>
              <a:rPr lang="ru-RU" sz="2100" dirty="0">
                <a:latin typeface="Consolas" panose="020B0609020204030204" pitchFamily="49" charset="0"/>
              </a:rPr>
              <a:t>Шкаф", </a:t>
            </a:r>
            <a:r>
              <a:rPr lang="en-US" sz="2100" dirty="0">
                <a:latin typeface="Consolas" panose="020B0609020204030204" pitchFamily="49" charset="0"/>
              </a:rPr>
              <a:t>price=12000)</a:t>
            </a:r>
            <a:endParaRPr lang="ru-RU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    def </a:t>
            </a:r>
            <a:r>
              <a:rPr lang="en-US" sz="2100" dirty="0" err="1">
                <a:latin typeface="Consolas" panose="020B0609020204030204" pitchFamily="49" charset="0"/>
              </a:rPr>
              <a:t>test_str_representation</a:t>
            </a:r>
            <a:r>
              <a:rPr lang="en-US" sz="2100" dirty="0">
                <a:latin typeface="Consolas" panose="020B0609020204030204" pitchFamily="49" charset="0"/>
              </a:rPr>
              <a:t>(self):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        </a:t>
            </a:r>
            <a:r>
              <a:rPr lang="en-US" sz="2100" dirty="0" err="1">
                <a:latin typeface="Consolas" panose="020B0609020204030204" pitchFamily="49" charset="0"/>
              </a:rPr>
              <a:t>self.assertEqual</a:t>
            </a:r>
            <a:r>
              <a:rPr lang="en-US" sz="2100" dirty="0">
                <a:latin typeface="Consolas" panose="020B0609020204030204" pitchFamily="49" charset="0"/>
              </a:rPr>
              <a:t>(str(</a:t>
            </a:r>
            <a:r>
              <a:rPr lang="en-US" sz="2100" dirty="0" err="1">
                <a:latin typeface="Consolas" panose="020B0609020204030204" pitchFamily="49" charset="0"/>
              </a:rPr>
              <a:t>self.object</a:t>
            </a:r>
            <a:r>
              <a:rPr lang="en-US" sz="2100" dirty="0">
                <a:latin typeface="Consolas" panose="020B0609020204030204" pitchFamily="49" charset="0"/>
              </a:rPr>
              <a:t>), '</a:t>
            </a:r>
            <a:r>
              <a:rPr lang="ru-RU" sz="2100" dirty="0">
                <a:latin typeface="Consolas" panose="020B0609020204030204" pitchFamily="49" charset="0"/>
              </a:rPr>
              <a:t>Шкаф')</a:t>
            </a:r>
          </a:p>
          <a:p>
            <a:pPr marL="0" indent="0">
              <a:buNone/>
            </a:pPr>
            <a:r>
              <a:rPr lang="ru-RU" sz="2100" dirty="0">
                <a:latin typeface="Consolas" panose="020B0609020204030204" pitchFamily="49" charset="0"/>
              </a:rPr>
              <a:t>    </a:t>
            </a:r>
            <a:r>
              <a:rPr lang="en-US" sz="2100" dirty="0">
                <a:latin typeface="Consolas" panose="020B0609020204030204" pitchFamily="49" charset="0"/>
              </a:rPr>
              <a:t>def </a:t>
            </a:r>
            <a:r>
              <a:rPr lang="en-US" sz="2100" dirty="0" err="1">
                <a:latin typeface="Consolas" panose="020B0609020204030204" pitchFamily="49" charset="0"/>
              </a:rPr>
              <a:t>tearDown</a:t>
            </a:r>
            <a:r>
              <a:rPr lang="en-US" sz="2100" dirty="0">
                <a:latin typeface="Consolas" panose="020B0609020204030204" pitchFamily="49" charset="0"/>
              </a:rPr>
              <a:t>(self):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</a:rPr>
              <a:t>        pass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99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83695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71999"/>
            <a:ext cx="905953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9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83695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98" y="1419615"/>
            <a:ext cx="905953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1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76817"/>
            <a:ext cx="8596668" cy="4501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данной курсовой работе создан сайт «Торговый дом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Бэст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-мебель-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трэйд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 Для достижения цели мы использовали свой заранее разработанный готовый дизайн. В результате выполнения курсовой работы по разработке сайта использованы CASE-средство для создания диаграммы прецедентов и действий, построены представления о вёрстке проектов, сформированы функциональная и каркасная архитектура сайта.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разработке данной вёрстки сайта освоены язык программирования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язык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гиперразметки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каскадные таблицы стилей СSS и программа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710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76817"/>
            <a:ext cx="8596668" cy="4501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этапы работы: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системного проекта и назначение разработки;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программе: к функциональным характеристикам, к надёжности и безопасности, к составу и параметрам технических средств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технического проекта: обоснование выбора CASE – средств, проектирование модели данных;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отладка программного продукта;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над техническим проектом проанализирована предметная область мебельного магазина.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8357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</TotalTime>
  <Words>699</Words>
  <Application>Microsoft Office PowerPoint</Application>
  <PresentationFormat>Широкоэкранный</PresentationFormat>
  <Paragraphs>64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Times New Roman</vt:lpstr>
      <vt:lpstr>Trebuchet MS</vt:lpstr>
      <vt:lpstr>Wingdings 3</vt:lpstr>
      <vt:lpstr>Грань</vt:lpstr>
      <vt:lpstr>КУРСОВОЙ ПРОЕКТ   «Разработка сайта для организации, занимающейся продажей мебели»  МДК.08.01 «Проектирование и разработка интерфейсов пользователя» </vt:lpstr>
      <vt:lpstr>Постановка задачи</vt:lpstr>
      <vt:lpstr>Обоснование выбора CASE – средств</vt:lpstr>
      <vt:lpstr>Проектирование</vt:lpstr>
      <vt:lpstr>Проектирование </vt:lpstr>
      <vt:lpstr>Итоговый вариант </vt:lpstr>
      <vt:lpstr>Итоговый вариант </vt:lpstr>
      <vt:lpstr>Итоговый вариант </vt:lpstr>
      <vt:lpstr>Итоговый вариант </vt:lpstr>
      <vt:lpstr>Разработка </vt:lpstr>
      <vt:lpstr>Тестирование</vt:lpstr>
      <vt:lpstr>Тестирование</vt:lpstr>
      <vt:lpstr>Тестирование</vt:lpstr>
      <vt:lpstr>Заключение</vt:lpstr>
      <vt:lpstr>Заключение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  «Разработка приложения по автоматизации учёта поступлений и распределений материалов на склады» МДК 02.01 «Технология разработки программного обеспечения»</dc:title>
  <dc:creator>TC-26</dc:creator>
  <cp:lastModifiedBy>Студент</cp:lastModifiedBy>
  <cp:revision>19</cp:revision>
  <dcterms:created xsi:type="dcterms:W3CDTF">2024-01-15T10:34:15Z</dcterms:created>
  <dcterms:modified xsi:type="dcterms:W3CDTF">2024-04-08T08:36:45Z</dcterms:modified>
</cp:coreProperties>
</file>